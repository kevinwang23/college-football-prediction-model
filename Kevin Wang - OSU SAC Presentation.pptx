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7" r:id="rId5"/>
    <p:sldId id="258" r:id="rId6"/>
    <p:sldId id="260" r:id="rId7"/>
    <p:sldId id="261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E00BC2-7654-FC42-9185-2D6A1DE27D49}" v="3" dt="2026-03-21T15:54:14.250"/>
    <p1510:client id="{EBEF00CC-5EA1-2327-10BB-A8C35E8598DE}" v="1128" dt="2026-03-21T03:42:40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55"/>
    <p:restoredTop sz="96056"/>
  </p:normalViewPr>
  <p:slideViewPr>
    <p:cSldViewPr snapToGrid="0" snapToObjects="1">
      <p:cViewPr varScale="1">
        <p:scale>
          <a:sx n="106" d="100"/>
          <a:sy n="106" d="100"/>
        </p:scale>
        <p:origin x="19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1B6BD-12EC-E14C-80F7-49D1DC761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A3397-4B88-3A47-BF2C-A8C9C8AC9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CF93A-28AB-1E43-A0FA-BEBF85B3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16212-CDF6-6148-9EBC-526BD34B1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C3634-D33B-7F4B-B863-9DCBF95F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51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97CE-C35F-A241-B399-4BEA1AD1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098E0-9C57-794A-9B86-1AD02AB81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8524A-5A44-CC4E-88F2-5CDD88A00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75798-8AB3-8B4D-9091-8765B8681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3B9BC-DC0D-5C4B-BB81-13F873B4A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22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06D8D-B687-1240-9942-7A4A34584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D1401-B534-DA4F-9AEE-06556616C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6CA56-A26A-DE4B-9DB5-66CA2CE7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84504-1B98-BA49-8284-455D1C6C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532C7-AEC4-654C-91EB-197909E4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86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3212-DE17-9046-B115-3AED8187F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55A24-FB72-9C41-8949-BD9CB351D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F91EB-AD3E-9D49-ACF9-EAD0DFE89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09572-4DC6-AD4B-94D4-92A18447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76358-1B1F-944F-946A-A7E4AD5C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BD2D6-FCD7-E741-AAB4-FE1AE26A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4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FFFA-3DAB-9744-996E-A071DB5BB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EF923-D798-D64C-9187-E129C3FA7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0C2CC-5FF8-AC45-A3B7-2EE7E1587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747E7-5BB9-9A4C-8E72-AC93E3AEA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F3D7F-BD50-B24F-A3EE-36BD54178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2F47F-576A-A94A-99EC-94E979454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8F02E-A0B5-B044-9578-74B7BF46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E6B6C4-EEB0-ED45-AB9F-31709A2B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9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5F3B8-31AF-CF45-93D9-56892D07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D11BA-A785-504F-A9F6-051CA3CA2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37B5F-519F-2242-BD7F-20E772A0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27BF-5321-6A47-B8BE-6183BBE9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5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EA54F6-2E88-FD4A-A1D0-4A8C5D6C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8F0E3-DEC3-5646-AA66-808218C0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7AA85-2921-A547-92B1-69445CC7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784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A767-BEBC-864C-AF1B-5FE453830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02BF-6DE1-C14C-94B7-6CEAC8171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FCEE6-C887-0F47-8B67-525F512D5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1DB9F-33B5-984D-969A-5FF64FD1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50E96-C89C-584A-8312-756A7617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9C73B-92C9-1F49-B74E-A96B1606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1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58B3-A5B7-3748-B8D1-7C068C45B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DD825-2826-C547-9FCD-CA95FF6FA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AD57F-2575-BE45-AB5F-0FA71249A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A9822-10F3-8044-87B7-7EAB5F9D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659BB-5CC2-3845-886A-DAF6DE35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699DD-F788-134B-96F7-1A93A744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57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6883-F361-2140-AAEC-FA2F114E7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3D8E3-C23B-A945-BB25-D3D55E642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CFC46-F73A-0341-BA8B-6C181DE28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7CD88-2614-D44E-AFD2-53D08863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343E8-D780-4D47-B55B-DE69BD824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3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A188FE-AFBE-AF4D-A77E-FC7021491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38F08-1B22-974F-B93D-7B1FB9B6C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D4289-9C36-0847-ADB4-07575BA69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15FC6-2972-1947-B4C4-0F77A45C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BB091-829E-E543-BF8A-54149C43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50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A7B812-ED9F-394D-B95B-2BD0CCBE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BFD80-E928-504D-B46B-7EFF9933C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5B46-4DDF-7840-B476-3263F59DB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AB97A-9709-0249-84A3-D15E37A1362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EDF08-9567-3E49-99C2-87830CB47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BD177-F0B5-4F4C-A035-D02FFE3EA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AF5A3-FA72-DE49-B822-C0F3A3F29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3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D6BE-D4D6-554E-B233-CB7EA4136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Calibri Light"/>
                <a:cs typeface="Calibri Light"/>
              </a:rPr>
              <a:t>Predicting College Football Outcomes Using Machine Learning Methods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FAEA6-0157-B94E-A306-F110F05614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Kevin Wang</a:t>
            </a:r>
          </a:p>
          <a:p>
            <a:r>
              <a:rPr lang="en-US" dirty="0">
                <a:ea typeface="Calibri"/>
                <a:cs typeface="Calibri"/>
              </a:rPr>
              <a:t>The Ohio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357029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907C-4777-8848-BFF8-54C54AED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Background and Objective: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19715-788F-874A-BD8B-15D57A8DF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College football outcome predictions have grown increasingly sophisticated</a:t>
            </a:r>
          </a:p>
          <a:p>
            <a:r>
              <a:rPr lang="en-US" dirty="0">
                <a:ea typeface="Calibri"/>
                <a:cs typeface="Calibri"/>
              </a:rPr>
              <a:t>Existing models such as ESPN's FPI+ and Massey Ratings are inconsistent</a:t>
            </a:r>
          </a:p>
          <a:p>
            <a:r>
              <a:rPr lang="en-US" dirty="0">
                <a:ea typeface="Calibri"/>
                <a:cs typeface="Calibri"/>
              </a:rPr>
              <a:t>Develop ML model using individual and pairwise differences in team-level metrics</a:t>
            </a:r>
          </a:p>
          <a:p>
            <a:r>
              <a:rPr lang="en-US" dirty="0">
                <a:ea typeface="Calibri"/>
                <a:cs typeface="Calibri"/>
              </a:rPr>
              <a:t>Use of rolling windows (1-5 games) to capture momentum and recent team form</a:t>
            </a:r>
          </a:p>
          <a:p>
            <a:r>
              <a:rPr lang="en-US" dirty="0">
                <a:ea typeface="Calibri"/>
                <a:cs typeface="Calibri"/>
              </a:rPr>
              <a:t>Evaluate performance using accuracy scores, ROC-AUC</a:t>
            </a:r>
          </a:p>
        </p:txBody>
      </p:sp>
    </p:spTree>
    <p:extLst>
      <p:ext uri="{BB962C8B-B14F-4D97-AF65-F5344CB8AC3E}">
        <p14:creationId xmlns:p14="http://schemas.microsoft.com/office/powerpoint/2010/main" val="1127402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C7D64-C2AC-DE45-8543-58ABFE8BB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41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224CA-9667-9965-E361-BF2BEE7E5C1A}"/>
              </a:ext>
            </a:extLst>
          </p:cNvPr>
          <p:cNvSpPr txBox="1"/>
          <p:nvPr/>
        </p:nvSpPr>
        <p:spPr>
          <a:xfrm>
            <a:off x="2645734" y="3365990"/>
            <a:ext cx="617869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>
                <a:ea typeface="Calibri" panose="020F0502020204030204"/>
                <a:cs typeface="Calibri" panose="020F0502020204030204"/>
              </a:rPr>
              <a:t>6 seasons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Calibri" panose="020F0502020204030204"/>
                <a:cs typeface="Calibri" panose="020F0502020204030204"/>
              </a:rPr>
              <a:t>10,000+ games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Calibri" panose="020F0502020204030204"/>
                <a:cs typeface="Calibri" panose="020F0502020204030204"/>
              </a:rPr>
              <a:t>~700 teams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Calibri" panose="020F0502020204030204"/>
                <a:cs typeface="Calibri" panose="020F0502020204030204"/>
              </a:rPr>
              <a:t>40+ team-level performance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6396D-5DAC-CD9B-C994-4DC6FCCD69D8}"/>
              </a:ext>
            </a:extLst>
          </p:cNvPr>
          <p:cNvSpPr txBox="1"/>
          <p:nvPr/>
        </p:nvSpPr>
        <p:spPr>
          <a:xfrm>
            <a:off x="838200" y="3365991"/>
            <a:ext cx="18075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ea typeface="Calibri"/>
                <a:cs typeface="Calibri"/>
              </a:rPr>
              <a:t>Highlights:</a:t>
            </a:r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785FEF-9956-0F40-A527-DCA948B8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3410"/>
            <a:ext cx="12192000" cy="10211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532182-FFC8-FB4E-AB2A-4F31BE1E4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0328"/>
            <a:ext cx="12192000" cy="100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18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A852-B974-6149-AC4F-4A1F3FBE3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495F0-FCC1-C143-9D4E-ABF1A1554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5048"/>
          </a:xfrm>
        </p:spPr>
        <p:txBody>
          <a:bodyPr/>
          <a:lstStyle/>
          <a:p>
            <a:r>
              <a:rPr lang="en-US" dirty="0"/>
              <a:t>Pairwise Differences</a:t>
            </a:r>
          </a:p>
          <a:p>
            <a:pPr lvl="1"/>
            <a:r>
              <a:rPr lang="en-US" dirty="0"/>
              <a:t>Comparing differences of the same metric for team and opponent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7EA09AA-821B-C24D-BFBA-6A0C8436B6A1}"/>
              </a:ext>
            </a:extLst>
          </p:cNvPr>
          <p:cNvSpPr txBox="1">
            <a:spLocks/>
          </p:cNvSpPr>
          <p:nvPr/>
        </p:nvSpPr>
        <p:spPr>
          <a:xfrm>
            <a:off x="685800" y="5018451"/>
            <a:ext cx="10515600" cy="935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Individual Team Metrics</a:t>
            </a:r>
          </a:p>
          <a:p>
            <a:pPr lvl="1"/>
            <a:r>
              <a:rPr lang="en-US" dirty="0"/>
              <a:t>Uses raw performance data for the team only</a:t>
            </a:r>
          </a:p>
        </p:txBody>
      </p:sp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CB1FA88-CC51-FB48-975E-773598FCB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9432"/>
            <a:ext cx="109220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0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F0D9-C187-234D-A9C6-AF03F126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91D3B-6194-0E45-971E-C303B1AEB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Support Vector Machine (SVM)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ML method for classification and regression</a:t>
            </a:r>
          </a:p>
          <a:p>
            <a:r>
              <a:rPr lang="en-US" dirty="0"/>
              <a:t>Multi-layer Perceptron (MLP)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Neural network model for classification and regression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Hidden Layer Size: (64, 32)</a:t>
            </a:r>
          </a:p>
          <a:p>
            <a:r>
              <a:rPr lang="en-US" dirty="0">
                <a:ea typeface="Calibri"/>
                <a:cs typeface="Calibri"/>
              </a:rPr>
              <a:t>Rolling windows (1-5 games)</a:t>
            </a:r>
          </a:p>
        </p:txBody>
      </p:sp>
    </p:spTree>
    <p:extLst>
      <p:ext uri="{BB962C8B-B14F-4D97-AF65-F5344CB8AC3E}">
        <p14:creationId xmlns:p14="http://schemas.microsoft.com/office/powerpoint/2010/main" val="401116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4D5B-1B84-9B43-853F-8206B528C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65" y="40241"/>
            <a:ext cx="10515600" cy="1325563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Accuracy Score by Rolling Window Length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52426-81C8-DBE8-D2D0-44104E7DF523}"/>
              </a:ext>
            </a:extLst>
          </p:cNvPr>
          <p:cNvSpPr txBox="1"/>
          <p:nvPr/>
        </p:nvSpPr>
        <p:spPr>
          <a:xfrm>
            <a:off x="7702697" y="1429488"/>
            <a:ext cx="4170325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ea typeface="Calibri"/>
                <a:cs typeface="Calibri"/>
              </a:rPr>
              <a:t>Pairwise differences MLP with 2-game rolling window performs best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ea typeface="Calibri"/>
                <a:cs typeface="Calibri"/>
              </a:rPr>
              <a:t>MLP with individual team-level metrics has highest average over all rolling window lengths</a:t>
            </a: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9" name="Picture 8" descr="A graph with colored dots&#10;&#10;Description automatically generated">
            <a:extLst>
              <a:ext uri="{FF2B5EF4-FFF2-40B4-BE49-F238E27FC236}">
                <a16:creationId xmlns:a16="http://schemas.microsoft.com/office/drawing/2014/main" id="{28A341DC-39B9-134D-BD47-0751F8C0D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78" y="1152394"/>
            <a:ext cx="7064680" cy="529851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726A41F-F7F3-0947-8380-5567AD591215}"/>
              </a:ext>
            </a:extLst>
          </p:cNvPr>
          <p:cNvSpPr/>
          <p:nvPr/>
        </p:nvSpPr>
        <p:spPr>
          <a:xfrm>
            <a:off x="1340285" y="1265596"/>
            <a:ext cx="413359" cy="3502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327B1F5-5EE4-054E-9956-F8DFDFD46A8E}"/>
              </a:ext>
            </a:extLst>
          </p:cNvPr>
          <p:cNvSpPr/>
          <p:nvPr/>
        </p:nvSpPr>
        <p:spPr>
          <a:xfrm>
            <a:off x="3407079" y="1640910"/>
            <a:ext cx="425885" cy="268056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66C5D-AB82-8ADE-6734-6CEAD1A9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95" y="176102"/>
            <a:ext cx="10515600" cy="1325563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ROC-AUC by Rolling Window Length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D40AC-CA8D-7D98-F553-37618E0016B5}"/>
              </a:ext>
            </a:extLst>
          </p:cNvPr>
          <p:cNvSpPr txBox="1"/>
          <p:nvPr/>
        </p:nvSpPr>
        <p:spPr>
          <a:xfrm>
            <a:off x="7702697" y="1429488"/>
            <a:ext cx="4170325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400">
                <a:ea typeface="Calibri"/>
                <a:cs typeface="Calibri"/>
              </a:rPr>
              <a:t>Pairwise differences MLP with 2-game rolling window has highest ROC-AUC </a:t>
            </a:r>
          </a:p>
          <a:p>
            <a:pPr marL="457200" indent="-457200">
              <a:buFont typeface="Arial"/>
              <a:buChar char="•"/>
            </a:pPr>
            <a:r>
              <a:rPr lang="en-US" sz="2400">
                <a:ea typeface="Calibri"/>
                <a:cs typeface="Calibri"/>
              </a:rPr>
              <a:t>MLP with individual team-level metrics showed greatest consistency across all rolling window lengths</a:t>
            </a:r>
          </a:p>
          <a:p>
            <a:pPr marL="457200" indent="-457200">
              <a:buFont typeface="Arial"/>
              <a:buChar char="•"/>
            </a:pPr>
            <a:r>
              <a:rPr lang="en-US" sz="2400" b="1">
                <a:ea typeface="Calibri"/>
                <a:cs typeface="Calibri"/>
              </a:rPr>
              <a:t>Conclusion: </a:t>
            </a:r>
            <a:r>
              <a:rPr lang="en-US" sz="2400">
                <a:ea typeface="Calibri"/>
                <a:cs typeface="Calibri"/>
              </a:rPr>
              <a:t>individual team-level metrics paired with MLP yields better, more stable predictive performance</a:t>
            </a:r>
          </a:p>
          <a:p>
            <a:pPr marL="457200" indent="-457200">
              <a:buFont typeface="Arial"/>
              <a:buChar char="•"/>
            </a:pPr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18" name="Picture 17" descr="A graph with colored dots&#10;&#10;Description automatically generated">
            <a:extLst>
              <a:ext uri="{FF2B5EF4-FFF2-40B4-BE49-F238E27FC236}">
                <a16:creationId xmlns:a16="http://schemas.microsoft.com/office/drawing/2014/main" id="{7778A1A4-4D5D-F748-8599-9B031FE3E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93" y="1361468"/>
            <a:ext cx="7093907" cy="5320430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BAF8A8E-FC3A-7D4B-A08D-C70A8D28B7CE}"/>
              </a:ext>
            </a:extLst>
          </p:cNvPr>
          <p:cNvSpPr/>
          <p:nvPr/>
        </p:nvSpPr>
        <p:spPr>
          <a:xfrm>
            <a:off x="1603332" y="1501665"/>
            <a:ext cx="363254" cy="2895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9872E55-4282-A446-872D-1A9EF4F36971}"/>
              </a:ext>
            </a:extLst>
          </p:cNvPr>
          <p:cNvSpPr/>
          <p:nvPr/>
        </p:nvSpPr>
        <p:spPr>
          <a:xfrm>
            <a:off x="3607496" y="1764868"/>
            <a:ext cx="551145" cy="254278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6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3230C-544A-ABB6-E637-15B419910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Model Comparison</a:t>
            </a:r>
            <a:endParaRPr lang="en-US"/>
          </a:p>
        </p:txBody>
      </p:sp>
      <p:pic>
        <p:nvPicPr>
          <p:cNvPr id="4" name="Picture 3" descr="A graph of a number of windows&#10;&#10;Description automatically generated with medium confidence">
            <a:extLst>
              <a:ext uri="{FF2B5EF4-FFF2-40B4-BE49-F238E27FC236}">
                <a16:creationId xmlns:a16="http://schemas.microsoft.com/office/drawing/2014/main" id="{0394EE84-1C95-F448-816D-6CD5A9416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120898"/>
            <a:ext cx="5334000" cy="4000500"/>
          </a:xfrm>
          <a:prstGeom prst="rect">
            <a:avLst/>
          </a:prstGeom>
        </p:spPr>
      </p:pic>
      <p:pic>
        <p:nvPicPr>
          <p:cNvPr id="7" name="Picture 6" descr="A graph with colored dots&#10;&#10;Description automatically generated">
            <a:extLst>
              <a:ext uri="{FF2B5EF4-FFF2-40B4-BE49-F238E27FC236}">
                <a16:creationId xmlns:a16="http://schemas.microsoft.com/office/drawing/2014/main" id="{391A9F20-F43C-EE4D-9983-3FC60E74E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2120898"/>
            <a:ext cx="54356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8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92A3-B0EC-3B5C-6214-95EC0C22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Conclusions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83EFC-17EB-37E2-8F15-BBB7220F3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0100" cy="17478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Best Performer: MLP on individual team metrics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A42242-644E-9283-338A-AC1BA5DFD225}"/>
              </a:ext>
            </a:extLst>
          </p:cNvPr>
          <p:cNvSpPr txBox="1">
            <a:spLocks/>
          </p:cNvSpPr>
          <p:nvPr/>
        </p:nvSpPr>
        <p:spPr>
          <a:xfrm>
            <a:off x="838200" y="2867025"/>
            <a:ext cx="5880100" cy="17478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Calibri"/>
                <a:cs typeface="Calibri"/>
              </a:rPr>
              <a:t>Limitations: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Injuries, weather, momentum (win streaks)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Length of season (only 12 games)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06E7E5-9FCC-435A-3120-648DA7AD6483}"/>
              </a:ext>
            </a:extLst>
          </p:cNvPr>
          <p:cNvSpPr txBox="1">
            <a:spLocks/>
          </p:cNvSpPr>
          <p:nvPr/>
        </p:nvSpPr>
        <p:spPr>
          <a:xfrm>
            <a:off x="838199" y="4613274"/>
            <a:ext cx="5880100" cy="17478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Calibri"/>
                <a:cs typeface="Calibri"/>
              </a:rPr>
              <a:t>Future Work: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Include additional metrics (i.e. recruiting rankings, coaching, playstyle)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4359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299DD-4914-4AC1-03CB-35D5D52F5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Acknowledgements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CA177A-A282-53B9-DE99-5C1476565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Dr. Lang Li, PhD, Professor and Chair, Department of </a:t>
            </a:r>
            <a:r>
              <a:rPr lang="en-US"/>
              <a:t>Biomedical Informatics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Chen Yang, The Ohio State University</a:t>
            </a:r>
          </a:p>
          <a:p>
            <a:r>
              <a:rPr lang="en-US" dirty="0">
                <a:ea typeface="+mn-lt"/>
                <a:cs typeface="+mn-lt"/>
              </a:rPr>
              <a:t>The Ohio State Hackathon Data provided by Sports Info Solutions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935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303</Words>
  <Application>Microsoft Macintosh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Predicting College Football Outcomes Using Machine Learning Methods</vt:lpstr>
      <vt:lpstr>Background and Objective:</vt:lpstr>
      <vt:lpstr>Data</vt:lpstr>
      <vt:lpstr>Variables</vt:lpstr>
      <vt:lpstr>Methods</vt:lpstr>
      <vt:lpstr>Accuracy Score by Rolling Window Length</vt:lpstr>
      <vt:lpstr>ROC-AUC by Rolling Window Length</vt:lpstr>
      <vt:lpstr>Model Comparison</vt:lpstr>
      <vt:lpstr>Conclusions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office</dc:creator>
  <cp:lastModifiedBy>Wang, Kevin</cp:lastModifiedBy>
  <cp:revision>297</cp:revision>
  <dcterms:created xsi:type="dcterms:W3CDTF">2026-03-17T17:04:13Z</dcterms:created>
  <dcterms:modified xsi:type="dcterms:W3CDTF">2026-03-28T01:59:24Z</dcterms:modified>
</cp:coreProperties>
</file>